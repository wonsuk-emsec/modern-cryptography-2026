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1695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LAB 01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/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1</a:t>
            </a:r>
            <a:endParaRPr lang="en-US" sz="1000"/>
          </a:p>
        </p:txBody>
      </p:sp>
      <p:sp>
        <p:nvSpPr>
          <p:cNvPr id="10" name="Course"/>
          <p:cNvSpPr txBox="1"/>
          <p:nvPr/>
        </p:nvSpPr>
        <p:spPr>
          <a:xfrm>
            <a:off x="685800" y="9144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300" b="1">
                <a:solidFill>
                  <a:srgbClr val="38BDF8"/>
                </a:solidFill>
                <a:latin typeface="Aptos"/>
              </a:rPr>
              <a:t>MODERN CRYPTOGRAPHIC APPLICATIONS · FALL 2026</a:t>
            </a:r>
            <a:endParaRPr lang="en-US" sz="1300"/>
          </a:p>
        </p:txBody>
      </p:sp>
      <p:sp>
        <p:nvSpPr>
          <p:cNvPr id="11" name="Main title"/>
          <p:cNvSpPr txBox="1"/>
          <p:nvPr/>
        </p:nvSpPr>
        <p:spPr>
          <a:xfrm>
            <a:off x="685800" y="1508760"/>
            <a:ext cx="9875520" cy="146304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3800" b="1">
                <a:solidFill>
                  <a:srgbClr val="F7FAFC"/>
                </a:solidFill>
                <a:latin typeface="Aptos"/>
              </a:rPr>
              <a:t>Password-based</a:t>
            </a:r>
            <a:endParaRPr lang="en-US" sz="3800"/>
          </a:p>
          <a:p>
            <a:pPr algn="l">
              <a:buNone/>
            </a:pPr>
            <a:r>
              <a:rPr lang="en-US" sz="3800" b="1">
                <a:solidFill>
                  <a:srgbClr val="2DD4BF"/>
                </a:solidFill>
                <a:latin typeface="Aptos"/>
              </a:rPr>
              <a:t>Authentication</a:t>
            </a:r>
            <a:endParaRPr lang="en-US" sz="3800"/>
          </a:p>
        </p:txBody>
      </p:sp>
      <p:sp>
        <p:nvSpPr>
          <p:cNvPr id="12" name="Subtitle"/>
          <p:cNvSpPr txBox="1"/>
          <p:nvPr/>
        </p:nvSpPr>
        <p:spPr>
          <a:xfrm>
            <a:off x="713232" y="3182112"/>
            <a:ext cx="8686800" cy="7315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200" b="0">
                <a:solidFill>
                  <a:srgbClr val="B7C4D6"/>
                </a:solidFill>
                <a:latin typeface="Aptos"/>
              </a:rPr>
              <a:t>Theory foundation for Lab 01</a:t>
            </a:r>
            <a:endParaRPr lang="en-US" sz="2200"/>
          </a:p>
          <a:p>
            <a:pPr algn="l">
              <a:buNone/>
            </a:pPr>
            <a:r>
              <a:rPr lang="en-US" sz="1600" b="0">
                <a:solidFill>
                  <a:srgbClr val="F7FAFC"/>
                </a:solidFill>
                <a:latin typeface="Aptos"/>
              </a:rPr>
              <a:t>Hash → Salt → Offline Guessing → KDFs → Linux → WPA2</a:t>
            </a:r>
            <a:endParaRPr lang="en-US" sz="1600"/>
          </a:p>
        </p:txBody>
      </p:sp>
      <p:sp>
        <p:nvSpPr>
          <p:cNvPr id="13" name="Ethics"/>
          <p:cNvSpPr txBox="1"/>
          <p:nvPr/>
        </p:nvSpPr>
        <p:spPr>
          <a:xfrm>
            <a:off x="713232" y="4892040"/>
            <a:ext cx="10607040" cy="77724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182880" rIns="182880" tIns="182880" bIns="182880" wrap="square" anchor="t"/>
          <a:lstStyle/>
          <a:p>
            <a:pPr algn="l">
              <a:buNone/>
            </a:pPr>
            <a:r>
              <a:rPr lang="en-US" sz="1500" b="1">
                <a:solidFill>
                  <a:srgbClr val="FB923C"/>
                </a:solidFill>
                <a:latin typeface="Aptos"/>
              </a:rPr>
              <a:t>AUTHORIZED CLASSROOM USE ONLY</a:t>
            </a:r>
            <a:endParaRPr lang="en-US" sz="1500"/>
          </a:p>
          <a:p>
            <a:pPr algn="l">
              <a:buNone/>
            </a:pPr>
            <a:r>
              <a:rPr lang="en-US" sz="1500" b="0">
                <a:solidFill>
                  <a:srgbClr val="F7FAFC"/>
                </a:solidFill>
                <a:latin typeface="Aptos"/>
              </a:rPr>
              <a:t>Use only supplied synthetic records, local files, and the approved course PCAP.</a:t>
            </a:r>
            <a:endParaRPr lang="en-US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ORIENTATION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Learning outcomes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2</a:t>
            </a:r>
            <a:endParaRPr lang="en-US" sz="1000"/>
          </a:p>
        </p:txBody>
      </p:sp>
      <p:sp>
        <p:nvSpPr>
          <p:cNvPr id="10" name="Bullet panel"/>
          <p:cNvSpPr txBox="1"/>
          <p:nvPr/>
        </p:nvSpPr>
        <p:spPr>
          <a:xfrm>
            <a:off x="640080" y="1353312"/>
            <a:ext cx="10881360" cy="4434840"/>
          </a:xfrm>
          <a:prstGeom prst="roundRect">
            <a:avLst/>
          </a:prstGeom>
          <a:solidFill>
            <a:srgbClr val="15213D"/>
          </a:solidFill>
          <a:ln>
            <a:noFill/>
          </a:ln>
        </p:spPr>
        <p:txBody>
          <a:bodyPr lIns="274320" rIns="274320" tIns="274320" bIns="274320" wrap="square" anchor="t"/>
          <a:lstStyle/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Explain why plaintext password storage fails and why hashing is not encryption.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Describe what salts prevent—and why salt alone does not stop guessing.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Compare SHA-256, PBKDF2, bcrypt, scrypt, and Argon2id as verifier mechanisms.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Distinguish online authentication attempts from offline verifier testing.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Interpret a synthetic Linux hash and a supplied WPA2 four-way handshake.</a:t>
            </a:r>
            <a:endParaRPr lang="en-US" sz="2000"/>
          </a:p>
        </p:txBody>
      </p:sp>
      <p:sp>
        <p:nvSpPr>
          <p:cNvPr id="11" name="Callout"/>
          <p:cNvSpPr txBox="1"/>
          <p:nvPr/>
        </p:nvSpPr>
        <p:spPr>
          <a:xfrm>
            <a:off x="868680" y="5925312"/>
            <a:ext cx="10424160" cy="411480"/>
          </a:xfrm>
          <a:prstGeom prst="roundRect">
            <a:avLst/>
          </a:prstGeom>
          <a:solidFill>
            <a:srgbClr val="1C2C4C"/>
          </a:solidFill>
          <a:ln>
            <a:noFill/>
          </a:ln>
        </p:spPr>
        <p:txBody>
          <a:bodyPr lIns="91440" rIns="91440" tIns="91440" bIns="91440" wrap="square" anchor="t"/>
          <a:lstStyle/>
          <a:p>
            <a:pPr algn="l">
              <a:buNone/>
            </a:pPr>
            <a:r>
              <a:rPr lang="en-US" sz="1300" b="1">
                <a:solidFill>
                  <a:srgbClr val="FACC15"/>
                </a:solidFill>
                <a:latin typeface="Aptos"/>
              </a:rPr>
              <a:t>Goal: connect every formula to an observable Lab 01 experiment.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ORIENTATION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Authorization is part of the experiment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3</a:t>
            </a:r>
            <a:endParaRPr lang="en-US" sz="1000"/>
          </a:p>
        </p:txBody>
      </p:sp>
      <p:sp>
        <p:nvSpPr>
          <p:cNvPr id="20" name="Allowed"/>
          <p:cNvSpPr txBox="1"/>
          <p:nvPr/>
        </p:nvSpPr>
        <p:spPr>
          <a:xfrm>
            <a:off x="64008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4ADE80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4ADE80"/>
                </a:solidFill>
                <a:latin typeface="Aptos"/>
              </a:rPr>
              <a:t>Allowed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Course wordlists, synthetic hashes, local JSON, and the supplied course PCAP.</a:t>
            </a:r>
            <a:endParaRPr lang="en-US" sz="1400"/>
          </a:p>
        </p:txBody>
      </p:sp>
      <p:sp>
        <p:nvSpPr>
          <p:cNvPr id="21" name="Not allowed"/>
          <p:cNvSpPr txBox="1"/>
          <p:nvPr/>
        </p:nvSpPr>
        <p:spPr>
          <a:xfrm>
            <a:off x="621792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87171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F87171"/>
                </a:solidFill>
                <a:latin typeface="Aptos"/>
              </a:rPr>
              <a:t>Not allowed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Real credentials, public services, arbitrary systems, or third-party captures.</a:t>
            </a:r>
            <a:endParaRPr lang="en-US" sz="1400"/>
          </a:p>
        </p:txBody>
      </p:sp>
      <p:sp>
        <p:nvSpPr>
          <p:cNvPr id="22" name="Offline only"/>
          <p:cNvSpPr txBox="1"/>
          <p:nvPr/>
        </p:nvSpPr>
        <p:spPr>
          <a:xfrm>
            <a:off x="64008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38BDF8"/>
                </a:solidFill>
                <a:latin typeface="Aptos"/>
              </a:rPr>
              <a:t>Offline only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No packet capture, deauthentication, wireless interface, or network disruption.</a:t>
            </a:r>
            <a:endParaRPr lang="en-US" sz="1400"/>
          </a:p>
        </p:txBody>
      </p:sp>
      <p:sp>
        <p:nvSpPr>
          <p:cNvPr id="23" name="Report safely"/>
          <p:cNvSpPr txBox="1"/>
          <p:nvPr/>
        </p:nvSpPr>
        <p:spPr>
          <a:xfrm>
            <a:off x="621792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FB923C"/>
                </a:solidFill>
                <a:latin typeface="Aptos"/>
              </a:rPr>
              <a:t>Report safely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Use fictional inputs and redact recovered candidates from public screenshots.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1 · FOUNDATIONS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Password verification lifecycle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4</a:t>
            </a:r>
            <a:endParaRPr lang="en-US" sz="1000"/>
          </a:p>
        </p:txBody>
      </p:sp>
      <p:sp>
        <p:nvSpPr>
          <p:cNvPr id="30" name="Register"/>
          <p:cNvSpPr txBox="1"/>
          <p:nvPr/>
        </p:nvSpPr>
        <p:spPr>
          <a:xfrm>
            <a:off x="640080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38BDF8"/>
                </a:solidFill>
                <a:latin typeface="Aptos"/>
              </a:rPr>
              <a:t>Register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User supplies a password through a protected channel.</a:t>
            </a:r>
            <a:endParaRPr lang="en-US" sz="1300"/>
          </a:p>
        </p:txBody>
      </p:sp>
      <p:sp>
        <p:nvSpPr>
          <p:cNvPr id="60" name="Arrow"/>
          <p:cNvSpPr/>
          <p:nvPr/>
        </p:nvSpPr>
        <p:spPr>
          <a:xfrm>
            <a:off x="3209544" y="2743200"/>
            <a:ext cx="219456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1" name="Derive"/>
          <p:cNvSpPr txBox="1"/>
          <p:nvPr/>
        </p:nvSpPr>
        <p:spPr>
          <a:xfrm>
            <a:off x="3401568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2DD4BF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2DD4BF"/>
                </a:solidFill>
                <a:latin typeface="Aptos"/>
              </a:rPr>
              <a:t>Derive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System combines password, salt, and KDF parameters.</a:t>
            </a:r>
            <a:endParaRPr lang="en-US" sz="1300"/>
          </a:p>
        </p:txBody>
      </p:sp>
      <p:sp>
        <p:nvSpPr>
          <p:cNvPr id="61" name="Arrow"/>
          <p:cNvSpPr/>
          <p:nvPr/>
        </p:nvSpPr>
        <p:spPr>
          <a:xfrm>
            <a:off x="5971031" y="2743200"/>
            <a:ext cx="219456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32" name="Store"/>
          <p:cNvSpPr txBox="1"/>
          <p:nvPr/>
        </p:nvSpPr>
        <p:spPr>
          <a:xfrm>
            <a:off x="6163056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FB923C"/>
                </a:solidFill>
                <a:latin typeface="Aptos"/>
              </a:rPr>
              <a:t>Store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Save metadata, salt, parameters, and verifier—not plaintext.</a:t>
            </a:r>
            <a:endParaRPr lang="en-US" sz="1300"/>
          </a:p>
        </p:txBody>
      </p:sp>
      <p:sp>
        <p:nvSpPr>
          <p:cNvPr id="62" name="Arrow"/>
          <p:cNvSpPr/>
          <p:nvPr/>
        </p:nvSpPr>
        <p:spPr>
          <a:xfrm>
            <a:off x="8732520" y="2743200"/>
            <a:ext cx="219456" cy="365760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33" name="Verify"/>
          <p:cNvSpPr txBox="1"/>
          <p:nvPr/>
        </p:nvSpPr>
        <p:spPr>
          <a:xfrm>
            <a:off x="8924544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4ADE80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4ADE80"/>
                </a:solidFill>
                <a:latin typeface="Aptos"/>
              </a:rPr>
              <a:t>Verify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Repeat derivation and compare results safely.</a:t>
            </a:r>
            <a:endParaRPr lang="en-US" sz="1300"/>
          </a:p>
        </p:txBody>
      </p:sp>
      <p:sp>
        <p:nvSpPr>
          <p:cNvPr id="80" name="Flow note"/>
          <p:cNvSpPr txBox="1"/>
          <p:nvPr/>
        </p:nvSpPr>
        <p:spPr>
          <a:xfrm>
            <a:off x="914400" y="4800600"/>
            <a:ext cx="10332720" cy="658368"/>
          </a:xfrm>
          <a:prstGeom prst="roundRect">
            <a:avLst/>
          </a:prstGeom>
          <a:solidFill>
            <a:srgbClr val="1C2C4C"/>
          </a:solidFill>
          <a:ln>
            <a:noFill/>
          </a:ln>
        </p:spPr>
        <p:txBody>
          <a:bodyPr lIns="146304" rIns="146304" tIns="146304" bIns="146304" wrap="square" anchor="t"/>
          <a:lstStyle/>
          <a:p>
            <a:pPr algn="ctr">
              <a:buNone/>
            </a:pPr>
            <a:r>
              <a:rPr lang="en-US" sz="1600" b="1">
                <a:solidFill>
                  <a:srgbClr val="FACC15"/>
                </a:solidFill>
                <a:latin typeface="Aptos"/>
              </a:rPr>
              <a:t>A database leak exposes verifiers; its design determines the cost of offline guessing.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1 · FOUNDATIONS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Hashing is not encryption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5</a:t>
            </a:r>
            <a:endParaRPr lang="en-US" sz="1000"/>
          </a:p>
        </p:txBody>
      </p:sp>
      <p:sp>
        <p:nvSpPr>
          <p:cNvPr id="20" name="Encryption"/>
          <p:cNvSpPr txBox="1"/>
          <p:nvPr/>
        </p:nvSpPr>
        <p:spPr>
          <a:xfrm>
            <a:off x="64008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FB923C"/>
                </a:solidFill>
                <a:latin typeface="Aptos"/>
              </a:rPr>
              <a:t>Encryption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Reversible with a decryption key. Used when plaintext must be recovered.</a:t>
            </a:r>
            <a:endParaRPr lang="en-US" sz="1400"/>
          </a:p>
        </p:txBody>
      </p:sp>
      <p:sp>
        <p:nvSpPr>
          <p:cNvPr id="21" name="Hash function"/>
          <p:cNvSpPr txBox="1"/>
          <p:nvPr/>
        </p:nvSpPr>
        <p:spPr>
          <a:xfrm>
            <a:off x="621792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38BDF8"/>
                </a:solidFill>
                <a:latin typeface="Aptos"/>
              </a:rPr>
              <a:t>Hash function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Deterministic one-way mapping to a fixed-size digest. No decryption key.</a:t>
            </a:r>
            <a:endParaRPr lang="en-US" sz="1400"/>
          </a:p>
        </p:txBody>
      </p:sp>
      <p:sp>
        <p:nvSpPr>
          <p:cNvPr id="22" name="Password verifier"/>
          <p:cNvSpPr txBox="1"/>
          <p:nvPr/>
        </p:nvSpPr>
        <p:spPr>
          <a:xfrm>
            <a:off x="64008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2DD4BF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2DD4BF"/>
                </a:solidFill>
                <a:latin typeface="Aptos"/>
              </a:rPr>
              <a:t>Password verifier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A stored value recomputed during login. Should use a dedicated password KDF.</a:t>
            </a:r>
            <a:endParaRPr lang="en-US" sz="1400"/>
          </a:p>
        </p:txBody>
      </p:sp>
      <p:sp>
        <p:nvSpPr>
          <p:cNvPr id="23" name="Comparison"/>
          <p:cNvSpPr txBox="1"/>
          <p:nvPr/>
        </p:nvSpPr>
        <p:spPr>
          <a:xfrm>
            <a:off x="621792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4ADE80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4ADE80"/>
                </a:solidFill>
                <a:latin typeface="Aptos"/>
              </a:rPr>
              <a:t>Comparison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Correct verification asks whether two derived values match—not how to decrypt one.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1 · FOUNDATIONS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What raw SHA-256 demonstrates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6</a:t>
            </a:r>
            <a:endParaRPr lang="en-US" sz="1000"/>
          </a:p>
        </p:txBody>
      </p:sp>
      <p:sp>
        <p:nvSpPr>
          <p:cNvPr id="30" name="Password"/>
          <p:cNvSpPr txBox="1"/>
          <p:nvPr/>
        </p:nvSpPr>
        <p:spPr>
          <a:xfrm>
            <a:off x="640080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38BDF8"/>
                </a:solidFill>
                <a:latin typeface="Aptos"/>
              </a:rPr>
              <a:t>Password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Python string entered with getpass.</a:t>
            </a:r>
            <a:endParaRPr lang="en-US" sz="1300"/>
          </a:p>
        </p:txBody>
      </p:sp>
      <p:sp>
        <p:nvSpPr>
          <p:cNvPr id="60" name="Arrow"/>
          <p:cNvSpPr/>
          <p:nvPr/>
        </p:nvSpPr>
        <p:spPr>
          <a:xfrm>
            <a:off x="3209544" y="2743200"/>
            <a:ext cx="219456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1" name="UTF-8"/>
          <p:cNvSpPr txBox="1"/>
          <p:nvPr/>
        </p:nvSpPr>
        <p:spPr>
          <a:xfrm>
            <a:off x="3401568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2DD4BF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2DD4BF"/>
                </a:solidFill>
                <a:latin typeface="Aptos"/>
              </a:rPr>
              <a:t>UTF-8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Encode text into bytes.</a:t>
            </a:r>
            <a:endParaRPr lang="en-US" sz="1300"/>
          </a:p>
        </p:txBody>
      </p:sp>
      <p:sp>
        <p:nvSpPr>
          <p:cNvPr id="61" name="Arrow"/>
          <p:cNvSpPr/>
          <p:nvPr/>
        </p:nvSpPr>
        <p:spPr>
          <a:xfrm>
            <a:off x="5971031" y="2743200"/>
            <a:ext cx="219456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32" name="SHA-256"/>
          <p:cNvSpPr txBox="1"/>
          <p:nvPr/>
        </p:nvSpPr>
        <p:spPr>
          <a:xfrm>
            <a:off x="6163056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FB923C"/>
                </a:solidFill>
                <a:latin typeface="Aptos"/>
              </a:rPr>
              <a:t>SHA-256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Fast deterministic hash.</a:t>
            </a:r>
            <a:endParaRPr lang="en-US" sz="1300"/>
          </a:p>
        </p:txBody>
      </p:sp>
      <p:sp>
        <p:nvSpPr>
          <p:cNvPr id="62" name="Arrow"/>
          <p:cNvSpPr/>
          <p:nvPr/>
        </p:nvSpPr>
        <p:spPr>
          <a:xfrm>
            <a:off x="8732520" y="2743200"/>
            <a:ext cx="219456" cy="365760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33" name="Digest"/>
          <p:cNvSpPr txBox="1"/>
          <p:nvPr/>
        </p:nvSpPr>
        <p:spPr>
          <a:xfrm>
            <a:off x="8924544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4ADE80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4ADE80"/>
                </a:solidFill>
                <a:latin typeface="Aptos"/>
              </a:rPr>
              <a:t>Digest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32 bytes shown as 64 hex characters.</a:t>
            </a:r>
            <a:endParaRPr lang="en-US" sz="1300"/>
          </a:p>
        </p:txBody>
      </p:sp>
      <p:sp>
        <p:nvSpPr>
          <p:cNvPr id="80" name="Flow note"/>
          <p:cNvSpPr txBox="1"/>
          <p:nvPr/>
        </p:nvSpPr>
        <p:spPr>
          <a:xfrm>
            <a:off x="914400" y="4800600"/>
            <a:ext cx="10332720" cy="658368"/>
          </a:xfrm>
          <a:prstGeom prst="roundRect">
            <a:avLst/>
          </a:prstGeom>
          <a:solidFill>
            <a:srgbClr val="1C2C4C"/>
          </a:solidFill>
          <a:ln>
            <a:noFill/>
          </a:ln>
        </p:spPr>
        <p:txBody>
          <a:bodyPr lIns="146304" rIns="146304" tIns="146304" bIns="146304" wrap="square" anchor="t"/>
          <a:lstStyle/>
          <a:p>
            <a:pPr algn="ctr">
              <a:buNone/>
            </a:pPr>
            <a:r>
              <a:rPr lang="en-US" sz="1600" b="1">
                <a:solidFill>
                  <a:srgbClr val="FACC15"/>
                </a:solidFill>
                <a:latin typeface="Aptos"/>
              </a:rPr>
              <a:t>Useful for learning the data flow; unsafe for production password storage because guesses are cheap.</a:t>
            </a:r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1 · FOUNDATIONS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Salt: unique, public, and necessary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7</a:t>
            </a:r>
            <a:endParaRPr lang="en-US" sz="1000"/>
          </a:p>
        </p:txBody>
      </p:sp>
      <p:sp>
        <p:nvSpPr>
          <p:cNvPr id="20" name="Definition"/>
          <p:cNvSpPr txBox="1"/>
          <p:nvPr/>
        </p:nvSpPr>
        <p:spPr>
          <a:xfrm>
            <a:off x="64008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38BDF8"/>
                </a:solidFill>
                <a:latin typeface="Aptos"/>
              </a:rPr>
              <a:t>Definition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A fresh random value generated for every stored password.</a:t>
            </a:r>
            <a:endParaRPr lang="en-US" sz="1400"/>
          </a:p>
        </p:txBody>
      </p:sp>
      <p:sp>
        <p:nvSpPr>
          <p:cNvPr id="21" name="Stored openly"/>
          <p:cNvSpPr txBox="1"/>
          <p:nvPr/>
        </p:nvSpPr>
        <p:spPr>
          <a:xfrm>
            <a:off x="621792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2DD4BF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2DD4BF"/>
                </a:solidFill>
                <a:latin typeface="Aptos"/>
              </a:rPr>
              <a:t>Stored openly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The verifier needs the same salt during login; secrecy is not required.</a:t>
            </a:r>
            <a:endParaRPr lang="en-US" sz="1400"/>
          </a:p>
        </p:txBody>
      </p:sp>
      <p:sp>
        <p:nvSpPr>
          <p:cNvPr id="22" name="Prevents reuse"/>
          <p:cNvSpPr txBox="1"/>
          <p:nvPr/>
        </p:nvSpPr>
        <p:spPr>
          <a:xfrm>
            <a:off x="64008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4ADE80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4ADE80"/>
                </a:solidFill>
                <a:latin typeface="Aptos"/>
              </a:rPr>
              <a:t>Prevents reuse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Equal passwords no longer have equal stored values across accounts.</a:t>
            </a:r>
            <a:endParaRPr lang="en-US" sz="1400"/>
          </a:p>
        </p:txBody>
      </p:sp>
      <p:sp>
        <p:nvSpPr>
          <p:cNvPr id="23" name="Does not prevent"/>
          <p:cNvSpPr txBox="1"/>
          <p:nvPr/>
        </p:nvSpPr>
        <p:spPr>
          <a:xfrm>
            <a:off x="621792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FB923C"/>
                </a:solidFill>
                <a:latin typeface="Aptos"/>
              </a:rPr>
              <a:t>Does not prevent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An attacker can still test guesses for each known salt.</a:t>
            </a:r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2 · GUESSING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How an offline dictionary attack works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8</a:t>
            </a:r>
            <a:endParaRPr lang="en-US" sz="1000"/>
          </a:p>
        </p:txBody>
      </p:sp>
      <p:sp>
        <p:nvSpPr>
          <p:cNvPr id="30" name="Target file"/>
          <p:cNvSpPr txBox="1"/>
          <p:nvPr/>
        </p:nvSpPr>
        <p:spPr>
          <a:xfrm>
            <a:off x="640080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38BDF8"/>
                </a:solidFill>
                <a:latin typeface="Aptos"/>
              </a:rPr>
              <a:t>Target file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Attacker already has authorized toy verifiers.</a:t>
            </a:r>
            <a:endParaRPr lang="en-US" sz="1300"/>
          </a:p>
        </p:txBody>
      </p:sp>
      <p:sp>
        <p:nvSpPr>
          <p:cNvPr id="60" name="Arrow"/>
          <p:cNvSpPr/>
          <p:nvPr/>
        </p:nvSpPr>
        <p:spPr>
          <a:xfrm>
            <a:off x="3209544" y="2743200"/>
            <a:ext cx="219456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1" name="Candidate"/>
          <p:cNvSpPr txBox="1"/>
          <p:nvPr/>
        </p:nvSpPr>
        <p:spPr>
          <a:xfrm>
            <a:off x="3401568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2DD4BF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2DD4BF"/>
                </a:solidFill>
                <a:latin typeface="Aptos"/>
              </a:rPr>
              <a:t>Candidate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Read one word from the small list.</a:t>
            </a:r>
            <a:endParaRPr lang="en-US" sz="1300"/>
          </a:p>
        </p:txBody>
      </p:sp>
      <p:sp>
        <p:nvSpPr>
          <p:cNvPr id="61" name="Arrow"/>
          <p:cNvSpPr/>
          <p:nvPr/>
        </p:nvSpPr>
        <p:spPr>
          <a:xfrm>
            <a:off x="5971031" y="2743200"/>
            <a:ext cx="219456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32" name="Compute"/>
          <p:cNvSpPr txBox="1"/>
          <p:nvPr/>
        </p:nvSpPr>
        <p:spPr>
          <a:xfrm>
            <a:off x="6163056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FB923C"/>
                </a:solidFill>
                <a:latin typeface="Aptos"/>
              </a:rPr>
              <a:t>Compute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Apply the same hash or KDF and salt rules.</a:t>
            </a:r>
            <a:endParaRPr lang="en-US" sz="1300"/>
          </a:p>
        </p:txBody>
      </p:sp>
      <p:sp>
        <p:nvSpPr>
          <p:cNvPr id="62" name="Arrow"/>
          <p:cNvSpPr/>
          <p:nvPr/>
        </p:nvSpPr>
        <p:spPr>
          <a:xfrm>
            <a:off x="8732520" y="2743200"/>
            <a:ext cx="219456" cy="365760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33" name="Compare"/>
          <p:cNvSpPr txBox="1"/>
          <p:nvPr/>
        </p:nvSpPr>
        <p:spPr>
          <a:xfrm>
            <a:off x="8924544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4ADE80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4ADE80"/>
                </a:solidFill>
                <a:latin typeface="Aptos"/>
              </a:rPr>
              <a:t>Compare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Digest match identifies a candidate.</a:t>
            </a:r>
            <a:endParaRPr lang="en-US" sz="1300"/>
          </a:p>
        </p:txBody>
      </p:sp>
      <p:sp>
        <p:nvSpPr>
          <p:cNvPr id="80" name="Flow note"/>
          <p:cNvSpPr txBox="1"/>
          <p:nvPr/>
        </p:nvSpPr>
        <p:spPr>
          <a:xfrm>
            <a:off x="914400" y="4800600"/>
            <a:ext cx="10332720" cy="658368"/>
          </a:xfrm>
          <a:prstGeom prst="roundRect">
            <a:avLst/>
          </a:prstGeom>
          <a:solidFill>
            <a:srgbClr val="1C2C4C"/>
          </a:solidFill>
          <a:ln>
            <a:noFill/>
          </a:ln>
        </p:spPr>
        <p:txBody>
          <a:bodyPr lIns="146304" rIns="146304" tIns="146304" bIns="146304" wrap="square" anchor="t"/>
          <a:lstStyle/>
          <a:p>
            <a:pPr algn="ctr">
              <a:buNone/>
            </a:pPr>
            <a:r>
              <a:rPr lang="en-US" sz="1600" b="1">
                <a:solidFill>
                  <a:srgbClr val="FACC15"/>
                </a:solidFill>
                <a:latin typeface="Aptos"/>
              </a:rPr>
              <a:t>No server request occurs: lockout, latency, and server-side rate limiting do not apply.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2 · GUESSING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Unsalted vs. salted work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9</a:t>
            </a:r>
            <a:endParaRPr lang="en-US" sz="1000"/>
          </a:p>
        </p:txBody>
      </p:sp>
      <p:sp>
        <p:nvSpPr>
          <p:cNvPr id="20" name="Unsalted"/>
          <p:cNvSpPr txBox="1"/>
          <p:nvPr/>
        </p:nvSpPr>
        <p:spPr>
          <a:xfrm>
            <a:off x="64008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38BDF8"/>
                </a:solidFill>
                <a:latin typeface="Aptos"/>
              </a:rPr>
              <a:t>Unsalted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Hash each candidate once; compare it with all account targets.</a:t>
            </a:r>
            <a:endParaRPr lang="en-US" sz="1400"/>
          </a:p>
        </p:txBody>
      </p:sp>
      <p:sp>
        <p:nvSpPr>
          <p:cNvPr id="21" name="Approximate work"/>
          <p:cNvSpPr txBox="1"/>
          <p:nvPr/>
        </p:nvSpPr>
        <p:spPr>
          <a:xfrm>
            <a:off x="621792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B7C4D6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B7C4D6"/>
                </a:solidFill>
                <a:latin typeface="Aptos"/>
              </a:rPr>
              <a:t>Approximate work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D candidates → about D hash operations, plus fast lookups.</a:t>
            </a:r>
            <a:endParaRPr lang="en-US" sz="1400"/>
          </a:p>
        </p:txBody>
      </p:sp>
      <p:sp>
        <p:nvSpPr>
          <p:cNvPr id="22" name="Salted"/>
          <p:cNvSpPr txBox="1"/>
          <p:nvPr/>
        </p:nvSpPr>
        <p:spPr>
          <a:xfrm>
            <a:off x="64008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FB923C"/>
                </a:solidFill>
                <a:latin typeface="Aptos"/>
              </a:rPr>
              <a:t>Salted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Recompute each candidate separately for each account's salt.</a:t>
            </a:r>
            <a:endParaRPr lang="en-US" sz="1400"/>
          </a:p>
        </p:txBody>
      </p:sp>
      <p:sp>
        <p:nvSpPr>
          <p:cNvPr id="23" name="Approximate work"/>
          <p:cNvSpPr txBox="1"/>
          <p:nvPr/>
        </p:nvSpPr>
        <p:spPr>
          <a:xfrm>
            <a:off x="621792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ACC15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FACC15"/>
                </a:solidFill>
                <a:latin typeface="Aptos"/>
              </a:rPr>
              <a:t>Approximate work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T targets × D candidates → up to T·D hash operations.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2 · GUESSING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Time–memory tradeoff and rainbow tables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10</a:t>
            </a:r>
            <a:endParaRPr lang="en-US" sz="1000"/>
          </a:p>
        </p:txBody>
      </p:sp>
      <p:sp>
        <p:nvSpPr>
          <p:cNvPr id="20" name="Precompute"/>
          <p:cNvSpPr txBox="1"/>
          <p:nvPr/>
        </p:nvSpPr>
        <p:spPr>
          <a:xfrm>
            <a:off x="64008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38BDF8"/>
                </a:solidFill>
                <a:latin typeface="Aptos"/>
              </a:rPr>
              <a:t>Precompute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Spend time before the target is known and store reusable chain endpoints.</a:t>
            </a:r>
            <a:endParaRPr lang="en-US" sz="1400"/>
          </a:p>
        </p:txBody>
      </p:sp>
      <p:sp>
        <p:nvSpPr>
          <p:cNvPr id="21" name="Tradeoff"/>
          <p:cNvSpPr txBox="1"/>
          <p:nvPr/>
        </p:nvSpPr>
        <p:spPr>
          <a:xfrm>
            <a:off x="621792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2DD4BF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2DD4BF"/>
                </a:solidFill>
                <a:latin typeface="Aptos"/>
              </a:rPr>
              <a:t>Tradeoff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Less storage requires more chain reconstruction during lookup.</a:t>
            </a:r>
            <a:endParaRPr lang="en-US" sz="1400"/>
          </a:p>
        </p:txBody>
      </p:sp>
      <p:sp>
        <p:nvSpPr>
          <p:cNvPr id="22" name="Chain merging"/>
          <p:cNvSpPr txBox="1"/>
          <p:nvPr/>
        </p:nvSpPr>
        <p:spPr>
          <a:xfrm>
            <a:off x="64008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FB923C"/>
                </a:solidFill>
                <a:latin typeface="Aptos"/>
              </a:rPr>
              <a:t>Chain merging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Many-to-one reductions cause collisions and incomplete coverage.</a:t>
            </a:r>
            <a:endParaRPr lang="en-US" sz="1400"/>
          </a:p>
        </p:txBody>
      </p:sp>
      <p:sp>
        <p:nvSpPr>
          <p:cNvPr id="23" name="Salt effect"/>
          <p:cNvSpPr txBox="1"/>
          <p:nvPr/>
        </p:nvSpPr>
        <p:spPr>
          <a:xfrm>
            <a:off x="621792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4ADE80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4ADE80"/>
                </a:solidFill>
                <a:latin typeface="Aptos"/>
              </a:rPr>
              <a:t>Salt effect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A distinct salt changes the function; tables must be rebuilt per salt.</a:t>
            </a:r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3 · PASSWORD KDFS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Why password hashing must be slow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11</a:t>
            </a:r>
            <a:endParaRPr lang="en-US" sz="1000"/>
          </a:p>
        </p:txBody>
      </p:sp>
      <p:sp>
        <p:nvSpPr>
          <p:cNvPr id="10" name="Bullet panel"/>
          <p:cNvSpPr txBox="1"/>
          <p:nvPr/>
        </p:nvSpPr>
        <p:spPr>
          <a:xfrm>
            <a:off x="640080" y="1353312"/>
            <a:ext cx="10881360" cy="4434840"/>
          </a:xfrm>
          <a:prstGeom prst="roundRect">
            <a:avLst/>
          </a:prstGeom>
          <a:solidFill>
            <a:srgbClr val="15213D"/>
          </a:solidFill>
          <a:ln>
            <a:noFill/>
          </a:ln>
        </p:spPr>
        <p:txBody>
          <a:bodyPr lIns="274320" rIns="274320" tIns="274320" bIns="274320" wrap="square" anchor="t"/>
          <a:lstStyle/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A legitimate login computes one verifier; an attacker may compute millions or billions.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A work factor intentionally increases the cost of every candidate.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Memory-hard designs also make massive parallel hardware more expensive.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Parameters belong in the stored record so they can be tuned and upgraded over time.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Cost does not create password entropy: strong, unique passwords are still required.</a:t>
            </a:r>
            <a:endParaRPr lang="en-US" sz="2000"/>
          </a:p>
        </p:txBody>
      </p:sp>
      <p:sp>
        <p:nvSpPr>
          <p:cNvPr id="11" name="Callout"/>
          <p:cNvSpPr txBox="1"/>
          <p:nvPr/>
        </p:nvSpPr>
        <p:spPr>
          <a:xfrm>
            <a:off x="868680" y="5925312"/>
            <a:ext cx="10424160" cy="411480"/>
          </a:xfrm>
          <a:prstGeom prst="roundRect">
            <a:avLst/>
          </a:prstGeom>
          <a:solidFill>
            <a:srgbClr val="1C2C4C"/>
          </a:solidFill>
          <a:ln>
            <a:noFill/>
          </a:ln>
        </p:spPr>
        <p:txBody>
          <a:bodyPr lIns="91440" rIns="91440" tIns="91440" bIns="91440" wrap="square" anchor="t"/>
          <a:lstStyle/>
          <a:p>
            <a:pPr algn="l">
              <a:buNone/>
            </a:pPr>
            <a:r>
              <a:rPr lang="en-US" sz="1300" b="1">
                <a:solidFill>
                  <a:srgbClr val="FACC15"/>
                </a:solidFill>
                <a:latin typeface="Aptos"/>
              </a:rPr>
              <a:t>Tune for acceptable login latency on deployment hardware—not from a universal benchmark table.</a:t>
            </a:r>
            <a:endParaRPr lang="en-US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3 · PASSWORD KDFS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Password KDF landscape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12</a:t>
            </a:r>
            <a:endParaRPr lang="en-US" sz="1000"/>
          </a:p>
        </p:txBody>
      </p:sp>
      <p:sp>
        <p:nvSpPr>
          <p:cNvPr id="20" name="PBKDF2"/>
          <p:cNvSpPr txBox="1"/>
          <p:nvPr/>
        </p:nvSpPr>
        <p:spPr>
          <a:xfrm>
            <a:off x="64008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38BDF8"/>
                </a:solidFill>
                <a:latin typeface="Aptos"/>
              </a:rPr>
              <a:t>PBKDF2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Iteration-based HMAC construction; widely supported, primarily CPU cost.</a:t>
            </a:r>
            <a:endParaRPr lang="en-US" sz="1400"/>
          </a:p>
        </p:txBody>
      </p:sp>
      <p:sp>
        <p:nvSpPr>
          <p:cNvPr id="21" name="bcrypt"/>
          <p:cNvSpPr txBox="1"/>
          <p:nvPr/>
        </p:nvSpPr>
        <p:spPr>
          <a:xfrm>
            <a:off x="621792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2DD4BF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2DD4BF"/>
                </a:solidFill>
                <a:latin typeface="Aptos"/>
              </a:rPr>
              <a:t>bcrypt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Adaptive logarithmic cost; mature, with password-length considerations.</a:t>
            </a:r>
            <a:endParaRPr lang="en-US" sz="1400"/>
          </a:p>
        </p:txBody>
      </p:sp>
      <p:sp>
        <p:nvSpPr>
          <p:cNvPr id="22" name="scrypt"/>
          <p:cNvSpPr txBox="1"/>
          <p:nvPr/>
        </p:nvSpPr>
        <p:spPr>
          <a:xfrm>
            <a:off x="64008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FB923C"/>
                </a:solidFill>
                <a:latin typeface="Aptos"/>
              </a:rPr>
              <a:t>scrypt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Configurable N, r, p parameters; designed to consume memory.</a:t>
            </a:r>
            <a:endParaRPr lang="en-US" sz="1400"/>
          </a:p>
        </p:txBody>
      </p:sp>
      <p:sp>
        <p:nvSpPr>
          <p:cNvPr id="23" name="Argon2id"/>
          <p:cNvSpPr txBox="1"/>
          <p:nvPr/>
        </p:nvSpPr>
        <p:spPr>
          <a:xfrm>
            <a:off x="621792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4ADE80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4ADE80"/>
                </a:solidFill>
                <a:latin typeface="Aptos"/>
              </a:rPr>
              <a:t>Argon2id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Modern memory-hard design with time, memory, and parallelism controls.</a:t>
            </a:r>
            <a:endParaRPr 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3 · PASSWORD KDFS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A meaningful benchmark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13</a:t>
            </a:r>
            <a:endParaRPr lang="en-US" sz="1000"/>
          </a:p>
        </p:txBody>
      </p:sp>
      <p:sp>
        <p:nvSpPr>
          <p:cNvPr id="30" name="Warm up"/>
          <p:cNvSpPr txBox="1"/>
          <p:nvPr/>
        </p:nvSpPr>
        <p:spPr>
          <a:xfrm>
            <a:off x="640080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38BDF8"/>
                </a:solidFill>
                <a:latin typeface="Aptos"/>
              </a:rPr>
              <a:t>Warm up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Run once before recording measurements.</a:t>
            </a:r>
            <a:endParaRPr lang="en-US" sz="1300"/>
          </a:p>
        </p:txBody>
      </p:sp>
      <p:sp>
        <p:nvSpPr>
          <p:cNvPr id="60" name="Arrow"/>
          <p:cNvSpPr/>
          <p:nvPr/>
        </p:nvSpPr>
        <p:spPr>
          <a:xfrm>
            <a:off x="3209544" y="2743200"/>
            <a:ext cx="219456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1" name="Repeat"/>
          <p:cNvSpPr txBox="1"/>
          <p:nvPr/>
        </p:nvSpPr>
        <p:spPr>
          <a:xfrm>
            <a:off x="3401568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2DD4BF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2DD4BF"/>
                </a:solidFill>
                <a:latin typeface="Aptos"/>
              </a:rPr>
              <a:t>Repeat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Collect multiple trials under the same parameters.</a:t>
            </a:r>
            <a:endParaRPr lang="en-US" sz="1300"/>
          </a:p>
        </p:txBody>
      </p:sp>
      <p:sp>
        <p:nvSpPr>
          <p:cNvPr id="61" name="Arrow"/>
          <p:cNvSpPr/>
          <p:nvPr/>
        </p:nvSpPr>
        <p:spPr>
          <a:xfrm>
            <a:off x="5971031" y="2743200"/>
            <a:ext cx="219456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32" name="Median"/>
          <p:cNvSpPr txBox="1"/>
          <p:nvPr/>
        </p:nvSpPr>
        <p:spPr>
          <a:xfrm>
            <a:off x="6163056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FB923C"/>
                </a:solidFill>
                <a:latin typeface="Aptos"/>
              </a:rPr>
              <a:t>Median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Reduce sensitivity to occasional scheduling noise.</a:t>
            </a:r>
            <a:endParaRPr lang="en-US" sz="1300"/>
          </a:p>
        </p:txBody>
      </p:sp>
      <p:sp>
        <p:nvSpPr>
          <p:cNvPr id="62" name="Arrow"/>
          <p:cNvSpPr/>
          <p:nvPr/>
        </p:nvSpPr>
        <p:spPr>
          <a:xfrm>
            <a:off x="8732520" y="2743200"/>
            <a:ext cx="219456" cy="365760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33" name="Interpret"/>
          <p:cNvSpPr txBox="1"/>
          <p:nvPr/>
        </p:nvSpPr>
        <p:spPr>
          <a:xfrm>
            <a:off x="8924544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4ADE80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4ADE80"/>
                </a:solidFill>
                <a:latin typeface="Aptos"/>
              </a:rPr>
              <a:t>Interpret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Compare relative cost on this machine only.</a:t>
            </a:r>
            <a:endParaRPr lang="en-US" sz="1300"/>
          </a:p>
        </p:txBody>
      </p:sp>
      <p:sp>
        <p:nvSpPr>
          <p:cNvPr id="80" name="Flow note"/>
          <p:cNvSpPr txBox="1"/>
          <p:nvPr/>
        </p:nvSpPr>
        <p:spPr>
          <a:xfrm>
            <a:off x="914400" y="4800600"/>
            <a:ext cx="10332720" cy="658368"/>
          </a:xfrm>
          <a:prstGeom prst="roundRect">
            <a:avLst/>
          </a:prstGeom>
          <a:solidFill>
            <a:srgbClr val="1C2C4C"/>
          </a:solidFill>
          <a:ln>
            <a:noFill/>
          </a:ln>
        </p:spPr>
        <p:txBody>
          <a:bodyPr lIns="146304" rIns="146304" tIns="146304" bIns="146304" wrap="square" anchor="t"/>
          <a:lstStyle/>
          <a:p>
            <a:pPr algn="ctr">
              <a:buNone/>
            </a:pPr>
            <a:r>
              <a:rPr lang="en-US" sz="1600" b="1">
                <a:solidFill>
                  <a:srgbClr val="FACC15"/>
                </a:solidFill>
                <a:latin typeface="Aptos"/>
              </a:rPr>
              <a:t>Record algorithm, parameters, trial count, hardware context, and median verification time.</a:t>
            </a:r>
            <a:endParaRPr lang="en-US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3 · PASSWORD KDFS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What a stored verifier record needs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14</a:t>
            </a:r>
            <a:endParaRPr lang="en-US" sz="1000"/>
          </a:p>
        </p:txBody>
      </p:sp>
      <p:sp>
        <p:nvSpPr>
          <p:cNvPr id="20" name="Identity"/>
          <p:cNvSpPr txBox="1"/>
          <p:nvPr/>
        </p:nvSpPr>
        <p:spPr>
          <a:xfrm>
            <a:off x="64008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B7C4D6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B7C4D6"/>
                </a:solidFill>
                <a:latin typeface="Aptos"/>
              </a:rPr>
              <a:t>Identity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Username or account identifier—not a password.</a:t>
            </a:r>
            <a:endParaRPr lang="en-US" sz="1400"/>
          </a:p>
        </p:txBody>
      </p:sp>
      <p:sp>
        <p:nvSpPr>
          <p:cNvPr id="21" name="Algorithm"/>
          <p:cNvSpPr txBox="1"/>
          <p:nvPr/>
        </p:nvSpPr>
        <p:spPr>
          <a:xfrm>
            <a:off x="621792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38BDF8"/>
                </a:solidFill>
                <a:latin typeface="Aptos"/>
              </a:rPr>
              <a:t>Algorithm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For example, PBKDF2-HMAC-SHA-256 or Argon2id.</a:t>
            </a:r>
            <a:endParaRPr lang="en-US" sz="1400"/>
          </a:p>
        </p:txBody>
      </p:sp>
      <p:sp>
        <p:nvSpPr>
          <p:cNvPr id="22" name="Parameters"/>
          <p:cNvSpPr txBox="1"/>
          <p:nvPr/>
        </p:nvSpPr>
        <p:spPr>
          <a:xfrm>
            <a:off x="64008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FB923C"/>
                </a:solidFill>
                <a:latin typeface="Aptos"/>
              </a:rPr>
              <a:t>Parameters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Iterations, memory, parallelism, version, and output length as applicable.</a:t>
            </a:r>
            <a:endParaRPr lang="en-US" sz="1400"/>
          </a:p>
        </p:txBody>
      </p:sp>
      <p:sp>
        <p:nvSpPr>
          <p:cNvPr id="23" name="Salt + verifier"/>
          <p:cNvSpPr txBox="1"/>
          <p:nvPr/>
        </p:nvSpPr>
        <p:spPr>
          <a:xfrm>
            <a:off x="621792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4ADE80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4ADE80"/>
                </a:solidFill>
                <a:latin typeface="Aptos"/>
              </a:rPr>
              <a:t>Salt + verifier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Unique salt and derived output; compare recomputed values safely.</a:t>
            </a:r>
            <a:endParaRPr lang="en-US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4 · SYSTEM HASHES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Reading a Linux shadow-style field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15</a:t>
            </a:r>
            <a:endParaRPr lang="en-US" sz="1000"/>
          </a:p>
        </p:txBody>
      </p:sp>
      <p:sp>
        <p:nvSpPr>
          <p:cNvPr id="20" name="Account line"/>
          <p:cNvSpPr txBox="1"/>
          <p:nvPr/>
        </p:nvSpPr>
        <p:spPr>
          <a:xfrm>
            <a:off x="64008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B7C4D6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B7C4D6"/>
                </a:solidFill>
                <a:latin typeface="Aptos"/>
              </a:rPr>
              <a:t>Account line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Colon-separated account and password-aging fields.</a:t>
            </a:r>
            <a:endParaRPr lang="en-US" sz="1400"/>
          </a:p>
        </p:txBody>
      </p:sp>
      <p:sp>
        <p:nvSpPr>
          <p:cNvPr id="21" name="$id$"/>
          <p:cNvSpPr txBox="1"/>
          <p:nvPr/>
        </p:nvSpPr>
        <p:spPr>
          <a:xfrm>
            <a:off x="621792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38BDF8"/>
                </a:solidFill>
                <a:latin typeface="Aptos"/>
              </a:rPr>
              <a:t>$id$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Selects the password hashing scheme; $6$ denotes SHA-512-crypt.</a:t>
            </a:r>
            <a:endParaRPr lang="en-US" sz="1400"/>
          </a:p>
        </p:txBody>
      </p:sp>
      <p:sp>
        <p:nvSpPr>
          <p:cNvPr id="22" name="Salt"/>
          <p:cNvSpPr txBox="1"/>
          <p:nvPr/>
        </p:nvSpPr>
        <p:spPr>
          <a:xfrm>
            <a:off x="64008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2DD4BF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2DD4BF"/>
                </a:solidFill>
                <a:latin typeface="Aptos"/>
              </a:rPr>
              <a:t>Salt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Public input required to recompute the verifier.</a:t>
            </a:r>
            <a:endParaRPr lang="en-US" sz="1400"/>
          </a:p>
        </p:txBody>
      </p:sp>
      <p:sp>
        <p:nvSpPr>
          <p:cNvPr id="23" name="Verifier"/>
          <p:cNvSpPr txBox="1"/>
          <p:nvPr/>
        </p:nvSpPr>
        <p:spPr>
          <a:xfrm>
            <a:off x="621792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FB923C"/>
                </a:solidFill>
                <a:latin typeface="Aptos"/>
              </a:rPr>
              <a:t>Verifier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Derived value—not encrypted plaintext and not directly reversible.</a:t>
            </a:r>
            <a:endParaRPr lang="en-US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4 · SYSTEM HASHES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Online vs. offline guessing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16</a:t>
            </a:r>
            <a:endParaRPr lang="en-US" sz="1000"/>
          </a:p>
        </p:txBody>
      </p:sp>
      <p:sp>
        <p:nvSpPr>
          <p:cNvPr id="20" name="Online"/>
          <p:cNvSpPr txBox="1"/>
          <p:nvPr/>
        </p:nvSpPr>
        <p:spPr>
          <a:xfrm>
            <a:off x="64008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38BDF8"/>
                </a:solidFill>
                <a:latin typeface="Aptos"/>
              </a:rPr>
              <a:t>Online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Each guess reaches an authentication service. Rate limits and lockouts can react.</a:t>
            </a:r>
            <a:endParaRPr lang="en-US" sz="1400"/>
          </a:p>
        </p:txBody>
      </p:sp>
      <p:sp>
        <p:nvSpPr>
          <p:cNvPr id="21" name="Offline"/>
          <p:cNvSpPr txBox="1"/>
          <p:nvPr/>
        </p:nvSpPr>
        <p:spPr>
          <a:xfrm>
            <a:off x="621792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FB923C"/>
                </a:solidFill>
                <a:latin typeface="Aptos"/>
              </a:rPr>
              <a:t>Offline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Guesses are checked against copied data locally. The service sees nothing.</a:t>
            </a:r>
            <a:endParaRPr lang="en-US" sz="1400"/>
          </a:p>
        </p:txBody>
      </p:sp>
      <p:sp>
        <p:nvSpPr>
          <p:cNvPr id="22" name="System hash lab"/>
          <p:cNvSpPr txBox="1"/>
          <p:nvPr/>
        </p:nvSpPr>
        <p:spPr>
          <a:xfrm>
            <a:off x="64008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2DD4BF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2DD4BF"/>
                </a:solidFill>
                <a:latin typeface="Aptos"/>
              </a:rPr>
              <a:t>System hash lab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Parsing does no guessing; optional John checks the supplied file offline.</a:t>
            </a:r>
            <a:endParaRPr lang="en-US" sz="1400"/>
          </a:p>
        </p:txBody>
      </p:sp>
      <p:sp>
        <p:nvSpPr>
          <p:cNvPr id="23" name="Defensive consequence"/>
          <p:cNvSpPr txBox="1"/>
          <p:nvPr/>
        </p:nvSpPr>
        <p:spPr>
          <a:xfrm>
            <a:off x="621792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4ADE80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4ADE80"/>
                </a:solidFill>
                <a:latin typeface="Aptos"/>
              </a:rPr>
              <a:t>Defensive consequence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Verifier cost and password entropy matter after a database leak.</a:t>
            </a:r>
            <a:endParaRPr lang="en-US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5 · WPA2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WPA2-Personal starting point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17</a:t>
            </a:r>
            <a:endParaRPr lang="en-US" sz="1000"/>
          </a:p>
        </p:txBody>
      </p:sp>
      <p:sp>
        <p:nvSpPr>
          <p:cNvPr id="10" name="Bullet panel"/>
          <p:cNvSpPr txBox="1"/>
          <p:nvPr/>
        </p:nvSpPr>
        <p:spPr>
          <a:xfrm>
            <a:off x="640080" y="1353312"/>
            <a:ext cx="10881360" cy="4434840"/>
          </a:xfrm>
          <a:prstGeom prst="roundRect">
            <a:avLst/>
          </a:prstGeom>
          <a:solidFill>
            <a:srgbClr val="15213D"/>
          </a:solidFill>
          <a:ln>
            <a:noFill/>
          </a:ln>
        </p:spPr>
        <p:txBody>
          <a:bodyPr lIns="274320" rIns="274320" tIns="274320" bIns="274320" wrap="square" anchor="t"/>
          <a:lstStyle/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The passphrase is not transmitted in the four-way handshake.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Passphrase + SSID derive a 32-byte PMK using PBKDF2-HMAC-SHA1 with 4096 iterations.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AP and station exchange nonces and prove possession of consistent key material.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MAC addresses and fresh nonces bind the derived PTK to endpoints and session.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Captured values can later validate dictionary candidates entirely offline.</a:t>
            </a:r>
            <a:endParaRPr lang="en-US" sz="2000"/>
          </a:p>
        </p:txBody>
      </p:sp>
      <p:sp>
        <p:nvSpPr>
          <p:cNvPr id="11" name="Callout"/>
          <p:cNvSpPr txBox="1"/>
          <p:nvPr/>
        </p:nvSpPr>
        <p:spPr>
          <a:xfrm>
            <a:off x="868680" y="5925312"/>
            <a:ext cx="10424160" cy="411480"/>
          </a:xfrm>
          <a:prstGeom prst="roundRect">
            <a:avLst/>
          </a:prstGeom>
          <a:solidFill>
            <a:srgbClr val="1C2C4C"/>
          </a:solidFill>
          <a:ln>
            <a:noFill/>
          </a:ln>
        </p:spPr>
        <p:txBody>
          <a:bodyPr lIns="91440" rIns="91440" tIns="91440" bIns="91440" wrap="square" anchor="t"/>
          <a:lstStyle/>
          <a:p>
            <a:pPr algn="l">
              <a:buNone/>
            </a:pPr>
            <a:r>
              <a:rPr lang="en-US" sz="1300" b="1">
                <a:solidFill>
                  <a:srgbClr val="FACC15"/>
                </a:solidFill>
                <a:latin typeface="Aptos"/>
              </a:rPr>
              <a:t>This lab begins with an already supplied, authorized course capture.</a:t>
            </a:r>
            <a:endParaRPr lang="en-US"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5 · WPA2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WPA2 four-way handshake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18</a:t>
            </a:r>
            <a:endParaRPr lang="en-US" sz="1000"/>
          </a:p>
        </p:txBody>
      </p:sp>
      <p:sp>
        <p:nvSpPr>
          <p:cNvPr id="30" name="M1 · AP→STA"/>
          <p:cNvSpPr txBox="1"/>
          <p:nvPr/>
        </p:nvSpPr>
        <p:spPr>
          <a:xfrm>
            <a:off x="640080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38BDF8"/>
                </a:solidFill>
                <a:latin typeface="Aptos"/>
              </a:rPr>
              <a:t>M1 · AP→STA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ANonce and replay counter.</a:t>
            </a:r>
            <a:endParaRPr lang="en-US" sz="1300"/>
          </a:p>
        </p:txBody>
      </p:sp>
      <p:sp>
        <p:nvSpPr>
          <p:cNvPr id="60" name="Arrow"/>
          <p:cNvSpPr/>
          <p:nvPr/>
        </p:nvSpPr>
        <p:spPr>
          <a:xfrm>
            <a:off x="3209544" y="2743200"/>
            <a:ext cx="219456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1" name="M2 · STA→AP"/>
          <p:cNvSpPr txBox="1"/>
          <p:nvPr/>
        </p:nvSpPr>
        <p:spPr>
          <a:xfrm>
            <a:off x="3401568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2DD4BF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2DD4BF"/>
                </a:solidFill>
                <a:latin typeface="Aptos"/>
              </a:rPr>
              <a:t>M2 · STA→AP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SNonce and KCK-based MIC.</a:t>
            </a:r>
            <a:endParaRPr lang="en-US" sz="1300"/>
          </a:p>
        </p:txBody>
      </p:sp>
      <p:sp>
        <p:nvSpPr>
          <p:cNvPr id="61" name="Arrow"/>
          <p:cNvSpPr/>
          <p:nvPr/>
        </p:nvSpPr>
        <p:spPr>
          <a:xfrm>
            <a:off x="5971031" y="2743200"/>
            <a:ext cx="219456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32" name="M3 · AP→STA"/>
          <p:cNvSpPr txBox="1"/>
          <p:nvPr/>
        </p:nvSpPr>
        <p:spPr>
          <a:xfrm>
            <a:off x="6163056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FB923C"/>
                </a:solidFill>
                <a:latin typeface="Aptos"/>
              </a:rPr>
              <a:t>M3 · AP→STA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Key install/group data and MIC.</a:t>
            </a:r>
            <a:endParaRPr lang="en-US" sz="1300"/>
          </a:p>
        </p:txBody>
      </p:sp>
      <p:sp>
        <p:nvSpPr>
          <p:cNvPr id="62" name="Arrow"/>
          <p:cNvSpPr/>
          <p:nvPr/>
        </p:nvSpPr>
        <p:spPr>
          <a:xfrm>
            <a:off x="8732520" y="2743200"/>
            <a:ext cx="219456" cy="365760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33" name="M4 · STA→AP"/>
          <p:cNvSpPr txBox="1"/>
          <p:nvPr/>
        </p:nvSpPr>
        <p:spPr>
          <a:xfrm>
            <a:off x="8924544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4ADE80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4ADE80"/>
                </a:solidFill>
                <a:latin typeface="Aptos"/>
              </a:rPr>
              <a:t>M4 · STA→AP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Acknowledgement and MIC.</a:t>
            </a:r>
            <a:endParaRPr lang="en-US" sz="1300"/>
          </a:p>
        </p:txBody>
      </p:sp>
      <p:sp>
        <p:nvSpPr>
          <p:cNvPr id="80" name="Flow note"/>
          <p:cNvSpPr txBox="1"/>
          <p:nvPr/>
        </p:nvSpPr>
        <p:spPr>
          <a:xfrm>
            <a:off x="914400" y="4800600"/>
            <a:ext cx="10332720" cy="658368"/>
          </a:xfrm>
          <a:prstGeom prst="roundRect">
            <a:avLst/>
          </a:prstGeom>
          <a:solidFill>
            <a:srgbClr val="1C2C4C"/>
          </a:solidFill>
          <a:ln>
            <a:noFill/>
          </a:ln>
        </p:spPr>
        <p:txBody>
          <a:bodyPr lIns="146304" rIns="146304" tIns="146304" bIns="146304" wrap="square" anchor="t"/>
          <a:lstStyle/>
          <a:p>
            <a:pPr algn="ctr">
              <a:buNone/>
            </a:pPr>
            <a:r>
              <a:rPr lang="en-US" sz="1600" b="1">
                <a:solidFill>
                  <a:srgbClr val="FACC15"/>
                </a:solidFill>
                <a:latin typeface="Aptos"/>
              </a:rPr>
              <a:t>MIC verification proves consistent key possession; the passphrase itself never crosses the network.</a:t>
            </a:r>
            <a:endParaRPr lang="en-US"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5 · WPA2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From passphrase to traffic keys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19</a:t>
            </a:r>
            <a:endParaRPr lang="en-US" sz="1000"/>
          </a:p>
        </p:txBody>
      </p:sp>
      <p:sp>
        <p:nvSpPr>
          <p:cNvPr id="30" name="PMK"/>
          <p:cNvSpPr txBox="1"/>
          <p:nvPr/>
        </p:nvSpPr>
        <p:spPr>
          <a:xfrm>
            <a:off x="640080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38BDF8"/>
                </a:solidFill>
                <a:latin typeface="Aptos"/>
              </a:rPr>
              <a:t>PMK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PBKDF2(passphrase, SSID, 4096).</a:t>
            </a:r>
            <a:endParaRPr lang="en-US" sz="1300"/>
          </a:p>
        </p:txBody>
      </p:sp>
      <p:sp>
        <p:nvSpPr>
          <p:cNvPr id="60" name="Arrow"/>
          <p:cNvSpPr/>
          <p:nvPr/>
        </p:nvSpPr>
        <p:spPr>
          <a:xfrm>
            <a:off x="3209544" y="2743200"/>
            <a:ext cx="219456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1" name="Context"/>
          <p:cNvSpPr txBox="1"/>
          <p:nvPr/>
        </p:nvSpPr>
        <p:spPr>
          <a:xfrm>
            <a:off x="3401568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2DD4BF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2DD4BF"/>
                </a:solidFill>
                <a:latin typeface="Aptos"/>
              </a:rPr>
              <a:t>Context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Ordered AP/STA MACs + ANonce/SNonce.</a:t>
            </a:r>
            <a:endParaRPr lang="en-US" sz="1300"/>
          </a:p>
        </p:txBody>
      </p:sp>
      <p:sp>
        <p:nvSpPr>
          <p:cNvPr id="61" name="Arrow"/>
          <p:cNvSpPr/>
          <p:nvPr/>
        </p:nvSpPr>
        <p:spPr>
          <a:xfrm>
            <a:off x="5971031" y="2743200"/>
            <a:ext cx="219456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32" name="PTK"/>
          <p:cNvSpPr txBox="1"/>
          <p:nvPr/>
        </p:nvSpPr>
        <p:spPr>
          <a:xfrm>
            <a:off x="6163056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FB923C"/>
                </a:solidFill>
                <a:latin typeface="Aptos"/>
              </a:rPr>
              <a:t>PTK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PRF-512(PMK, label, context).</a:t>
            </a:r>
            <a:endParaRPr lang="en-US" sz="1300"/>
          </a:p>
        </p:txBody>
      </p:sp>
      <p:sp>
        <p:nvSpPr>
          <p:cNvPr id="62" name="Arrow"/>
          <p:cNvSpPr/>
          <p:nvPr/>
        </p:nvSpPr>
        <p:spPr>
          <a:xfrm>
            <a:off x="8732520" y="2743200"/>
            <a:ext cx="219456" cy="365760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33" name="KCK / KEK / TK"/>
          <p:cNvSpPr txBox="1"/>
          <p:nvPr/>
        </p:nvSpPr>
        <p:spPr>
          <a:xfrm>
            <a:off x="8924544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4ADE80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4ADE80"/>
                </a:solidFill>
                <a:latin typeface="Aptos"/>
              </a:rPr>
              <a:t>KCK / KEK / TK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Confirm messages / protect keys / protect traffic.</a:t>
            </a:r>
            <a:endParaRPr lang="en-US" sz="1300"/>
          </a:p>
        </p:txBody>
      </p:sp>
      <p:sp>
        <p:nvSpPr>
          <p:cNvPr id="80" name="Flow note"/>
          <p:cNvSpPr txBox="1"/>
          <p:nvPr/>
        </p:nvSpPr>
        <p:spPr>
          <a:xfrm>
            <a:off x="914400" y="4800600"/>
            <a:ext cx="10332720" cy="658368"/>
          </a:xfrm>
          <a:prstGeom prst="roundRect">
            <a:avLst/>
          </a:prstGeom>
          <a:solidFill>
            <a:srgbClr val="1C2C4C"/>
          </a:solidFill>
          <a:ln>
            <a:noFill/>
          </a:ln>
        </p:spPr>
        <p:txBody>
          <a:bodyPr lIns="146304" rIns="146304" tIns="146304" bIns="146304" wrap="square" anchor="t"/>
          <a:lstStyle/>
          <a:p>
            <a:pPr algn="ctr">
              <a:buNone/>
            </a:pPr>
            <a:r>
              <a:rPr lang="en-US" sz="1600" b="1">
                <a:solidFill>
                  <a:srgbClr val="FACC15"/>
                </a:solidFill>
                <a:latin typeface="Aptos"/>
              </a:rPr>
              <a:t>Both endpoints independently derive the same PTK from shared and captured inputs.</a:t>
            </a:r>
            <a:endParaRPr lang="en-US"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PART 5 · WPA2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Offline WPA2 candidate verification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20</a:t>
            </a:r>
            <a:endParaRPr lang="en-US" sz="1000"/>
          </a:p>
        </p:txBody>
      </p:sp>
      <p:sp>
        <p:nvSpPr>
          <p:cNvPr id="30" name="Guess"/>
          <p:cNvSpPr txBox="1"/>
          <p:nvPr/>
        </p:nvSpPr>
        <p:spPr>
          <a:xfrm>
            <a:off x="640080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38BDF8"/>
                </a:solidFill>
                <a:latin typeface="Aptos"/>
              </a:rPr>
              <a:t>Guess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Candidate passphrase + captured SSID.</a:t>
            </a:r>
            <a:endParaRPr lang="en-US" sz="1300"/>
          </a:p>
        </p:txBody>
      </p:sp>
      <p:sp>
        <p:nvSpPr>
          <p:cNvPr id="60" name="Arrow"/>
          <p:cNvSpPr/>
          <p:nvPr/>
        </p:nvSpPr>
        <p:spPr>
          <a:xfrm>
            <a:off x="3209544" y="2743200"/>
            <a:ext cx="219456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1" name="Derive"/>
          <p:cNvSpPr txBox="1"/>
          <p:nvPr/>
        </p:nvSpPr>
        <p:spPr>
          <a:xfrm>
            <a:off x="3401568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2DD4BF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2DD4BF"/>
                </a:solidFill>
                <a:latin typeface="Aptos"/>
              </a:rPr>
              <a:t>Derive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Candidate PMK, PTK, then KCK.</a:t>
            </a:r>
            <a:endParaRPr lang="en-US" sz="1300"/>
          </a:p>
        </p:txBody>
      </p:sp>
      <p:sp>
        <p:nvSpPr>
          <p:cNvPr id="61" name="Arrow"/>
          <p:cNvSpPr/>
          <p:nvPr/>
        </p:nvSpPr>
        <p:spPr>
          <a:xfrm>
            <a:off x="5971031" y="2743200"/>
            <a:ext cx="219456" cy="36576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</p:sp>
      <p:sp>
        <p:nvSpPr>
          <p:cNvPr id="32" name="Recompute"/>
          <p:cNvSpPr txBox="1"/>
          <p:nvPr/>
        </p:nvSpPr>
        <p:spPr>
          <a:xfrm>
            <a:off x="6163056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FB923C"/>
                </a:solidFill>
                <a:latin typeface="Aptos"/>
              </a:rPr>
              <a:t>Recompute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Zero EAPOL MIC field and calculate candidate MIC.</a:t>
            </a:r>
            <a:endParaRPr lang="en-US" sz="1300"/>
          </a:p>
        </p:txBody>
      </p:sp>
      <p:sp>
        <p:nvSpPr>
          <p:cNvPr id="62" name="Arrow"/>
          <p:cNvSpPr/>
          <p:nvPr/>
        </p:nvSpPr>
        <p:spPr>
          <a:xfrm>
            <a:off x="8732520" y="2743200"/>
            <a:ext cx="219456" cy="365760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33" name="Compare"/>
          <p:cNvSpPr txBox="1"/>
          <p:nvPr/>
        </p:nvSpPr>
        <p:spPr>
          <a:xfrm>
            <a:off x="8924544" y="1874519"/>
            <a:ext cx="2596896" cy="2240280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4ADE80"/>
            </a:solidFill>
          </a:ln>
        </p:spPr>
        <p:txBody>
          <a:bodyPr lIns="155448" rIns="155448" tIns="155448" bIns="155448" wrap="square" anchor="t"/>
          <a:lstStyle/>
          <a:p>
            <a:pPr algn="ctr">
              <a:buNone/>
            </a:pPr>
            <a:r>
              <a:rPr lang="en-US" sz="1700" b="1">
                <a:solidFill>
                  <a:srgbClr val="4ADE80"/>
                </a:solidFill>
                <a:latin typeface="Aptos"/>
              </a:rPr>
              <a:t>Compare</a:t>
            </a:r>
            <a:endParaRPr lang="en-US" sz="1700"/>
          </a:p>
          <a:p>
            <a:pPr algn="ctr">
              <a:buNone/>
            </a:pPr>
            <a:r>
              <a:rPr lang="en-US" sz="1300" b="0">
                <a:solidFill>
                  <a:srgbClr val="F7FAFC"/>
                </a:solidFill>
                <a:latin typeface="Aptos"/>
              </a:rPr>
              <a:t>Candidate MIC vs. captured MIC.</a:t>
            </a:r>
            <a:endParaRPr lang="en-US" sz="1300"/>
          </a:p>
        </p:txBody>
      </p:sp>
      <p:sp>
        <p:nvSpPr>
          <p:cNvPr id="80" name="Flow note"/>
          <p:cNvSpPr txBox="1"/>
          <p:nvPr/>
        </p:nvSpPr>
        <p:spPr>
          <a:xfrm>
            <a:off x="914400" y="4800600"/>
            <a:ext cx="10332720" cy="658368"/>
          </a:xfrm>
          <a:prstGeom prst="roundRect">
            <a:avLst/>
          </a:prstGeom>
          <a:solidFill>
            <a:srgbClr val="1C2C4C"/>
          </a:solidFill>
          <a:ln>
            <a:noFill/>
          </a:ln>
        </p:spPr>
        <p:txBody>
          <a:bodyPr lIns="146304" rIns="146304" tIns="146304" bIns="146304" wrap="square" anchor="t"/>
          <a:lstStyle/>
          <a:p>
            <a:pPr algn="ctr">
              <a:buNone/>
            </a:pPr>
            <a:r>
              <a:rPr lang="en-US" sz="1600" b="1">
                <a:solidFill>
                  <a:srgbClr val="FACC15"/>
                </a:solidFill>
                <a:latin typeface="Aptos"/>
              </a:rPr>
              <a:t>A match validates one candidate; it does not reveal a shortcut for arbitrary strong passphrases.</a:t>
            </a:r>
            <a:endParaRPr lang="en-US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SYNTHESIS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Defense in depth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21</a:t>
            </a:r>
            <a:endParaRPr lang="en-US" sz="1000"/>
          </a:p>
        </p:txBody>
      </p:sp>
      <p:sp>
        <p:nvSpPr>
          <p:cNvPr id="20" name="Password choice"/>
          <p:cNvSpPr txBox="1"/>
          <p:nvPr/>
        </p:nvSpPr>
        <p:spPr>
          <a:xfrm>
            <a:off x="64008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4ADE80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4ADE80"/>
                </a:solidFill>
                <a:latin typeface="Aptos"/>
              </a:rPr>
              <a:t>Password choice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Use long, unique passwords and password managers.</a:t>
            </a:r>
            <a:endParaRPr lang="en-US" sz="1400"/>
          </a:p>
        </p:txBody>
      </p:sp>
      <p:sp>
        <p:nvSpPr>
          <p:cNvPr id="21" name="Verifier design"/>
          <p:cNvSpPr txBox="1"/>
          <p:nvPr/>
        </p:nvSpPr>
        <p:spPr>
          <a:xfrm>
            <a:off x="6217920" y="1353312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38BDF8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38BDF8"/>
                </a:solidFill>
                <a:latin typeface="Aptos"/>
              </a:rPr>
              <a:t>Verifier design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Unique salts and tuned memory-hard password hashing.</a:t>
            </a:r>
            <a:endParaRPr lang="en-US" sz="1400"/>
          </a:p>
        </p:txBody>
      </p:sp>
      <p:sp>
        <p:nvSpPr>
          <p:cNvPr id="22" name="Operations"/>
          <p:cNvSpPr txBox="1"/>
          <p:nvPr/>
        </p:nvSpPr>
        <p:spPr>
          <a:xfrm>
            <a:off x="64008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FB923C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FB923C"/>
                </a:solidFill>
                <a:latin typeface="Aptos"/>
              </a:rPr>
              <a:t>Operations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Protect databases, monitor authentication, rate-limit online attempts.</a:t>
            </a:r>
            <a:endParaRPr lang="en-US" sz="1400"/>
          </a:p>
        </p:txBody>
      </p:sp>
      <p:sp>
        <p:nvSpPr>
          <p:cNvPr id="23" name="Wireless"/>
          <p:cNvSpPr txBox="1"/>
          <p:nvPr/>
        </p:nvSpPr>
        <p:spPr>
          <a:xfrm>
            <a:off x="6217920" y="3493008"/>
            <a:ext cx="5349240" cy="1938528"/>
          </a:xfrm>
          <a:prstGeom prst="roundRect">
            <a:avLst/>
          </a:prstGeom>
          <a:solidFill>
            <a:srgbClr val="15213D"/>
          </a:solidFill>
          <a:ln w="12700">
            <a:solidFill>
              <a:srgbClr val="2DD4BF"/>
            </a:solidFill>
          </a:ln>
        </p:spPr>
        <p:txBody>
          <a:bodyPr lIns="201168" rIns="201168" tIns="201168" bIns="201168" wrap="square" anchor="t"/>
          <a:lstStyle/>
          <a:p>
            <a:pPr algn="l">
              <a:buNone/>
            </a:pPr>
            <a:r>
              <a:rPr lang="en-US" sz="1800" b="1">
                <a:solidFill>
                  <a:srgbClr val="2DD4BF"/>
                </a:solidFill>
                <a:latin typeface="Aptos"/>
              </a:rPr>
              <a:t>Wireless</a:t>
            </a:r>
            <a:endParaRPr lang="en-US" sz="1800"/>
          </a:p>
          <a:p>
            <a:pPr algn="l">
              <a:buNone/>
            </a:pPr>
            <a:r>
              <a:rPr lang="en-US" sz="1400" b="0">
                <a:solidFill>
                  <a:srgbClr val="F7FAFC"/>
                </a:solidFill>
                <a:latin typeface="Aptos"/>
              </a:rPr>
              <a:t>Use strong PSKs; consider architectures with different authentication properties.</a:t>
            </a:r>
            <a:endParaRPr lang="en-US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4" name="Section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SYNTHESIS</a:t>
            </a:r>
            <a:endParaRPr lang="en-US" sz="1000"/>
          </a:p>
        </p:txBody>
      </p:sp>
      <p:sp>
        <p:nvSpPr>
          <p:cNvPr id="5" name="Title"/>
          <p:cNvSpPr txBox="1"/>
          <p:nvPr/>
        </p:nvSpPr>
        <p:spPr>
          <a:xfrm>
            <a:off x="502920" y="56692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2800" b="1">
                <a:solidFill>
                  <a:srgbClr val="F7FAFC"/>
                </a:solidFill>
                <a:latin typeface="Aptos"/>
              </a:rPr>
              <a:t>Lab map and evidence to collect</a:t>
            </a:r>
            <a:endParaRPr lang="en-US" sz="2800"/>
          </a:p>
        </p:txBody>
      </p:sp>
      <p:sp>
        <p:nvSpPr>
          <p:cNvPr id="6" name="Footer"/>
          <p:cNvSpPr txBox="1"/>
          <p:nvPr/>
        </p:nvSpPr>
        <p:spPr>
          <a:xfrm>
            <a:off x="502920" y="6528816"/>
            <a:ext cx="9601200" cy="201168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l">
              <a:buNone/>
            </a:pPr>
            <a:r>
              <a:rPr lang="en-US" sz="900" b="0">
                <a:solidFill>
                  <a:srgbClr val="B7C4D6"/>
                </a:solidFill>
                <a:latin typeface="Aptos"/>
              </a:rPr>
              <a:t>Modern Cryptographic Applications · Lab 01</a:t>
            </a:r>
            <a:endParaRPr lang="en-US" sz="900"/>
          </a:p>
        </p:txBody>
      </p:sp>
      <p:sp>
        <p:nvSpPr>
          <p:cNvPr id="7" name="Slide number"/>
          <p:cNvSpPr txBox="1"/>
          <p:nvPr/>
        </p:nvSpPr>
        <p:spPr>
          <a:xfrm>
            <a:off x="11109960" y="649224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lIns="109728" rIns="109728" tIns="109728" bIns="109728" wrap="square" anchor="t"/>
          <a:lstStyle/>
          <a:p>
            <a:pPr algn="r">
              <a:buNone/>
            </a:pPr>
            <a:r>
              <a:rPr lang="en-US" sz="1000" b="1">
                <a:solidFill>
                  <a:srgbClr val="38BDF8"/>
                </a:solidFill>
                <a:latin typeface="Aptos"/>
              </a:rPr>
              <a:t>22</a:t>
            </a:r>
            <a:endParaRPr lang="en-US" sz="1000"/>
          </a:p>
        </p:txBody>
      </p:sp>
      <p:sp>
        <p:nvSpPr>
          <p:cNvPr id="10" name="Bullet panel"/>
          <p:cNvSpPr txBox="1"/>
          <p:nvPr/>
        </p:nvSpPr>
        <p:spPr>
          <a:xfrm>
            <a:off x="640080" y="1353312"/>
            <a:ext cx="10881360" cy="4434840"/>
          </a:xfrm>
          <a:prstGeom prst="roundRect">
            <a:avLst/>
          </a:prstGeom>
          <a:solidFill>
            <a:srgbClr val="15213D"/>
          </a:solidFill>
          <a:ln>
            <a:noFill/>
          </a:ln>
        </p:spPr>
        <p:txBody>
          <a:bodyPr lIns="274320" rIns="274320" tIns="274320" bIns="274320" wrap="square" anchor="t"/>
          <a:lstStyle/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Part 1: repeated and salted digest observations; explain hash vs. encryption.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Part 2: offline computation counts plus bounded online SSH attempts and server logs.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Part 3: KDF benchmark table and a verifier-only JSON authentication record.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Part 4: parsed modular hash fields and justified online/offline classification.</a:t>
            </a:r>
            <a:endParaRPr lang="en-US" sz="2000"/>
          </a:p>
          <a:p>
            <a:pPr algn="l" marL="342900" indent="-228600">
              <a:buChar char="•"/>
            </a:pPr>
            <a:r>
              <a:rPr lang="en-US" sz="2000" b="0">
                <a:solidFill>
                  <a:srgbClr val="F7FAFC"/>
                </a:solidFill>
                <a:latin typeface="Aptos"/>
              </a:rPr>
              <a:t>Part 5: M1–M4 summary, PMK→PTK→KCK→MIC diagram, and redacted offline result.</a:t>
            </a:r>
            <a:endParaRPr lang="en-US" sz="2000"/>
          </a:p>
        </p:txBody>
      </p:sp>
      <p:sp>
        <p:nvSpPr>
          <p:cNvPr id="11" name="Callout"/>
          <p:cNvSpPr txBox="1"/>
          <p:nvPr/>
        </p:nvSpPr>
        <p:spPr>
          <a:xfrm>
            <a:off x="868680" y="5925312"/>
            <a:ext cx="10424160" cy="411480"/>
          </a:xfrm>
          <a:prstGeom prst="roundRect">
            <a:avLst/>
          </a:prstGeom>
          <a:solidFill>
            <a:srgbClr val="1C2C4C"/>
          </a:solidFill>
          <a:ln>
            <a:noFill/>
          </a:ln>
        </p:spPr>
        <p:txBody>
          <a:bodyPr lIns="91440" rIns="91440" tIns="91440" bIns="91440" wrap="square" anchor="t"/>
          <a:lstStyle/>
          <a:p>
            <a:pPr algn="l">
              <a:buNone/>
            </a:pPr>
            <a:r>
              <a:rPr lang="en-US" sz="1300" b="1">
                <a:solidFill>
                  <a:srgbClr val="FACC15"/>
                </a:solidFill>
                <a:latin typeface="Aptos"/>
              </a:rPr>
              <a:t>Success means explaining the security consequence—not merely reproducing command output.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 01 Theme">
  <a:themeElements>
    <a:clrScheme name="Lab 01">
      <a:dk1>
        <a:srgbClr val="0B132B"/>
      </a:dk1>
      <a:lt1>
        <a:srgbClr val="F7FAFC"/>
      </a:lt1>
      <a:dk2>
        <a:srgbClr val="15213D"/>
      </a:dk2>
      <a:lt2>
        <a:srgbClr val="B7C4D6"/>
      </a:lt2>
      <a:accent1>
        <a:srgbClr val="38BDF8"/>
      </a:accent1>
      <a:accent2>
        <a:srgbClr val="2DD4BF"/>
      </a:accent2>
      <a:accent3>
        <a:srgbClr val="FB923C"/>
      </a:accent3>
      <a:accent4>
        <a:srgbClr val="4ADE80"/>
      </a:accent4>
      <a:accent5>
        <a:srgbClr val="FACC15"/>
      </a:accent5>
      <a:accent6>
        <a:srgbClr val="F87171"/>
      </a:accent6>
      <a:hlink>
        <a:srgbClr val="38BDF8"/>
      </a:hlink>
      <a:folHlink>
        <a:srgbClr val="2DD4BF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Lab 01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0</Notes>
  <HiddenSlides>0</HiddenSlides>
  <Company>Modern Cryptographic Applications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Lab 01: Password-based Authentication</dc:title>
  <dc:subject>Theory foundation</dc:subject>
  <dc:creator>Modern Cryptographic Applications course staff</dc:creator>
  <cp:lastModifiedBy>Course staff</cp:lastModifiedBy>
  <dcterms:created xsi:type="dcterms:W3CDTF">2026-09-06T13:32:26Z</dcterms:created>
  <dcterms:modified xsi:type="dcterms:W3CDTF">2026-09-06T13:32:26Z</dcterms:modified>
</cp:coreProperties>
</file>